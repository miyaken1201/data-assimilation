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45" r:id="rId2"/>
    <p:sldId id="2057" r:id="rId3"/>
    <p:sldId id="2061" r:id="rId4"/>
    <p:sldId id="2062" r:id="rId5"/>
    <p:sldId id="2058" r:id="rId6"/>
    <p:sldId id="2063" r:id="rId7"/>
    <p:sldId id="20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DDBAAD-C43F-4CEE-8F23-4A953D5CEEA2}" v="2" dt="2025-11-20T04:27:37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A536451E-CB62-466F-86FB-D0FAE876C875}"/>
    <pc:docChg chg="modSld">
      <pc:chgData name="cgfa6170" userId="46cde8c4-1d5f-444e-a8bb-106eec3feaad" providerId="ADAL" clId="{A536451E-CB62-466F-86FB-D0FAE876C875}" dt="2025-11-20T04:27:35.294" v="0"/>
      <pc:docMkLst>
        <pc:docMk/>
      </pc:docMkLst>
      <pc:sldChg chg="addSp modSp">
        <pc:chgData name="cgfa6170" userId="46cde8c4-1d5f-444e-a8bb-106eec3feaad" providerId="ADAL" clId="{A536451E-CB62-466F-86FB-D0FAE876C875}" dt="2025-11-20T04:27:35.294" v="0"/>
        <pc:sldMkLst>
          <pc:docMk/>
          <pc:sldMk cId="3479826977" sldId="2058"/>
        </pc:sldMkLst>
        <pc:spChg chg="add mod">
          <ac:chgData name="cgfa6170" userId="46cde8c4-1d5f-444e-a8bb-106eec3feaad" providerId="ADAL" clId="{A536451E-CB62-466F-86FB-D0FAE876C875}" dt="2025-11-20T04:27:35.294" v="0"/>
          <ac:spMkLst>
            <pc:docMk/>
            <pc:sldMk cId="3479826977" sldId="2058"/>
            <ac:spMk id="3" creationId="{3FBD91BE-560F-3192-0FBE-29B5118147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8E1AD-1EEE-421D-9CB2-28BC1B3AC659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BD7E1-BE35-472C-AE64-BC760FC559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47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072915-7120-4E17-BAF6-5E62620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9295DA5-1841-48F6-A3F6-E82E9C0C5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5F903E-F440-4CC1-9AEF-619F3ADB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03D0B8-89BB-448F-887F-9C5534C5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BEE28F-4B55-4AF2-9173-150203BD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1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5F33D-4975-48B0-BF0E-BDE225CB1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6F5F57-B8AA-4ABC-ABA8-A2B66EA32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D98F9-8E8D-42A9-9F24-25FC950A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5374E3-AECE-4107-B716-2DE8BB2F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66F1AA-5EDE-4744-B955-BEFEEE0C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93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35F5BA-712E-4420-9E27-FEEF284CE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769906-2F9E-410E-B9D7-C7EE9E074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401110-BB76-466A-A8FA-4E2D227D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A8217B-E2F7-4813-BB52-7ED0CCDC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7F0115-39F0-4CCD-B4A6-A1289DED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75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22A0A9-6FB2-4016-8A6A-E0A95E0E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709592-E17F-4BDE-BB85-669E51933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AC9D97-846C-4695-8E8F-B0A736E6D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4EFFD0-0661-4E1E-A4C6-7CC2C5F9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74F432-C4EE-4234-9283-578E78FA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25F235-EBB7-48A5-A01C-2A4AE478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27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04491-181C-4C3D-97BE-57C41750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05622-32C0-461B-8168-258CBA16C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104752-AEA2-4613-99D2-1EBB9951E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097E9DF-84C4-44FF-BCD6-6CFEEF395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1CBAE7-7956-4A8D-8DD8-94F0554E6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D8B914-04C3-46DB-8D2C-360DD567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859641-1694-45EF-BC1D-99599AA9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1E137AD-4E15-4924-9AB2-05105DAA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38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5A3423-253B-4B01-A6FA-B5E6AF5D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6689F1B-40D4-4C52-8BC3-96F3AA02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ADAF09C-F838-4ECF-B9E4-8B8692A4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4BE1FD-BE52-4EC6-A7DA-572ABE69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107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75F35C-4437-4591-8150-A8371483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79CE4A-6899-4327-813B-90A9DD16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AA5A8F-3E8E-4829-BECA-E493C655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25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011B50-B3F1-4DD0-BF8F-43E7BAB2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015E75-91DB-4280-8885-A27957C7C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F9CBF0-D4F6-45E0-9E12-3EE9FB236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FF208-DFCA-4667-8DAD-53A391AB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B4A273-0AAC-49CC-87AB-10EC9D26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0BD9D2-B774-4785-B77A-E3BBB624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9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F388A-B0D0-4004-B660-F5986B01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7722AD-50C3-426E-BA05-31DD08D6D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4ACF8E-5085-4360-A77D-59F8E7D70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931275-E307-4EDF-AF96-437DEA61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8FC868-2ACF-4F95-B982-FCD0C24C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9E293A-0D75-46C5-BAC9-5E46F9E5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81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8DF8E6-CD9E-409F-85A7-C37572FF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9A0110-C9A7-4D4F-B493-62F689DF6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CD02D6-5C01-4C22-A8E1-3B3FB051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F7B5E7-CE7E-4480-AE86-FF8D1410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B6C4F6-391F-4FB2-88BD-0466BCFA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75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469BFF-2079-47EC-8D78-619404D2F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AC78D1-E979-48E3-A6FD-A61AAC6F5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EE2EF-3F08-4C9A-BEF4-73667677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AF8E02-4E75-4438-942D-7015A775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6A9E48-EF47-4F0E-8BF9-630FB21A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066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1339185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79001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E0A72D6-28EC-4640-BBAE-E247B7E4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09C77B-B86D-44A6-8E68-72067A0EF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F6BB3A-305C-4D70-ACED-3DD7EC803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C2CF1-6EBE-4929-812B-B543D10E34B3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D784DF-CE58-4BE1-A70E-30229F407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CE70CE-29C1-4C34-9CA7-2C75BB044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D67FE-8563-4398-ACDD-EA00CA758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09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地球観測社会システム</a:t>
            </a:r>
            <a:br>
              <a:rPr lang="en-US" altLang="ja-JP"/>
            </a:br>
            <a:r>
              <a:rPr lang="ja-JP" altLang="en-US"/>
              <a:t>第</a:t>
            </a:r>
            <a:r>
              <a:rPr lang="en-US" altLang="ja-JP"/>
              <a:t>5</a:t>
            </a:r>
            <a:r>
              <a:rPr lang="ja-JP" altLang="en-US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宮澤健人</a:t>
            </a:r>
          </a:p>
          <a:p>
            <a:endParaRPr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/>
              <a:t>千葉大学</a:t>
            </a:r>
            <a:r>
              <a:rPr lang="ja-JP" altLang="en-US"/>
              <a:t>大学院　融合理工学府　リモートセンシングコース</a:t>
            </a:r>
            <a:r>
              <a:rPr lang="en-US" altLang="ja-JP"/>
              <a:t>1</a:t>
            </a:r>
            <a:r>
              <a:rPr lang="ja-JP" altLang="en-US"/>
              <a:t>年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A7188-4858-709A-553A-FF9B7D7C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Basic Task 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601060-B8A5-F219-0965-B6E2C57E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27" y="1176151"/>
            <a:ext cx="8696864" cy="250391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9F893E-90A7-067A-7EEA-FA2102A8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2" y="3707583"/>
            <a:ext cx="8935218" cy="287395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BF33B7-E6DB-F9C3-CE7D-CDB6179A1E91}"/>
              </a:ext>
            </a:extLst>
          </p:cNvPr>
          <p:cNvSpPr/>
          <p:nvPr/>
        </p:nvSpPr>
        <p:spPr>
          <a:xfrm>
            <a:off x="8893388" y="1510453"/>
            <a:ext cx="697653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21E042-CD5C-5E96-756D-0A807C9A68C3}"/>
              </a:ext>
            </a:extLst>
          </p:cNvPr>
          <p:cNvSpPr/>
          <p:nvPr/>
        </p:nvSpPr>
        <p:spPr>
          <a:xfrm>
            <a:off x="9005485" y="1147757"/>
            <a:ext cx="1379199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F07C9E6-6C86-0EA7-DD75-C54DCD49EA1C}"/>
              </a:ext>
            </a:extLst>
          </p:cNvPr>
          <p:cNvSpPr/>
          <p:nvPr/>
        </p:nvSpPr>
        <p:spPr>
          <a:xfrm>
            <a:off x="8893388" y="3707583"/>
            <a:ext cx="133646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C6C405-7D7A-0532-47B0-DCECD78CB098}"/>
              </a:ext>
            </a:extLst>
          </p:cNvPr>
          <p:cNvSpPr/>
          <p:nvPr/>
        </p:nvSpPr>
        <p:spPr>
          <a:xfrm>
            <a:off x="9102938" y="4101081"/>
            <a:ext cx="112691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8A738F-ED26-4629-9EDF-980E0EE116A4}"/>
              </a:ext>
            </a:extLst>
          </p:cNvPr>
          <p:cNvSpPr txBox="1"/>
          <p:nvPr/>
        </p:nvSpPr>
        <p:spPr>
          <a:xfrm>
            <a:off x="8233628" y="850138"/>
            <a:ext cx="338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>
                <a:solidFill>
                  <a:srgbClr val="FF0000"/>
                </a:solidFill>
              </a:rPr>
              <a:t>※</a:t>
            </a:r>
            <a:r>
              <a:rPr kumimoji="1" lang="ja-JP" altLang="en-US">
                <a:solidFill>
                  <a:srgbClr val="FF0000"/>
                </a:solidFill>
              </a:rPr>
              <a:t>カルマンゲイン局所化も実装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CE714D-6848-42F9-A014-85BCCB88536A}"/>
              </a:ext>
            </a:extLst>
          </p:cNvPr>
          <p:cNvSpPr txBox="1"/>
          <p:nvPr/>
        </p:nvSpPr>
        <p:spPr>
          <a:xfrm>
            <a:off x="9204423" y="3338251"/>
            <a:ext cx="24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>
                <a:solidFill>
                  <a:srgbClr val="FF0000"/>
                </a:solidFill>
              </a:rPr>
              <a:t>※</a:t>
            </a:r>
            <a:r>
              <a:rPr lang="en-US" altLang="ja-JP">
                <a:solidFill>
                  <a:srgbClr val="FF0000"/>
                </a:solidFill>
              </a:rPr>
              <a:t>with</a:t>
            </a:r>
            <a:r>
              <a:rPr lang="ja-JP" altLang="en-US">
                <a:solidFill>
                  <a:srgbClr val="FF0000"/>
                </a:solidFill>
              </a:rPr>
              <a:t> </a:t>
            </a:r>
            <a:r>
              <a:rPr lang="en-US" altLang="ja-JP">
                <a:solidFill>
                  <a:srgbClr val="FF0000"/>
                </a:solidFill>
              </a:rPr>
              <a:t>K Localization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65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局所化した</a:t>
            </a:r>
            <a:r>
              <a:rPr lang="en-US" altLang="ja-JP"/>
              <a:t>PO</a:t>
            </a:r>
            <a:r>
              <a:rPr lang="ja-JP" altLang="en-US"/>
              <a:t>法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F57BABA5-C5A6-4085-ACEE-F2662FEA8A05}"/>
                  </a:ext>
                </a:extLst>
              </p:cNvPr>
              <p:cNvSpPr txBox="1"/>
              <p:nvPr/>
            </p:nvSpPr>
            <p:spPr bwMode="auto">
              <a:xfrm>
                <a:off x="1061966" y="949256"/>
                <a:ext cx="2926081" cy="66899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2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ja-JP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ja-JP" sz="32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lang="ja-JP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2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ja-JP" altLang="en-US" sz="3200"/>
              </a:p>
            </p:txBody>
          </p:sp>
        </mc:Choice>
        <mc:Fallback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F57BABA5-C5A6-4085-ACEE-F2662FEA8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1966" y="949256"/>
                <a:ext cx="2926081" cy="668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C0AF22A-F80B-402E-8969-E844C5E522A8}"/>
              </a:ext>
            </a:extLst>
          </p:cNvPr>
          <p:cNvGrpSpPr/>
          <p:nvPr/>
        </p:nvGrpSpPr>
        <p:grpSpPr>
          <a:xfrm>
            <a:off x="5057916" y="878740"/>
            <a:ext cx="6907842" cy="2099567"/>
            <a:chOff x="1794409" y="1084081"/>
            <a:chExt cx="8555689" cy="23203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23C91B07-9389-417E-8B8F-EE5DF001A9A4}"/>
                    </a:ext>
                  </a:extLst>
                </p:cNvPr>
                <p:cNvSpPr txBox="1"/>
                <p:nvPr/>
              </p:nvSpPr>
              <p:spPr>
                <a:xfrm>
                  <a:off x="2175543" y="1791813"/>
                  <a:ext cx="1663047" cy="642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10/3</m:t>
                                </m:r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oMath>
                    </m:oMathPara>
                  </a14:m>
                  <a:endParaRPr lang="en-US" altLang="ja-JP"/>
                </a:p>
              </p:txBody>
            </p:sp>
          </mc:Choice>
          <mc:Fallback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23C91B07-9389-417E-8B8F-EE5DF001A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543" y="1791813"/>
                  <a:ext cx="1663047" cy="642227"/>
                </a:xfrm>
                <a:prstGeom prst="rect">
                  <a:avLst/>
                </a:prstGeom>
                <a:blipFill>
                  <a:blip r:embed="rId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5C615F1-0DB7-4329-97A3-178C9068D52A}"/>
                    </a:ext>
                  </a:extLst>
                </p:cNvPr>
                <p:cNvSpPr txBox="1"/>
                <p:nvPr/>
              </p:nvSpPr>
              <p:spPr>
                <a:xfrm>
                  <a:off x="4607302" y="1084081"/>
                  <a:ext cx="5742796" cy="17667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≤1)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p>
                                      </m:sSup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+4−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eqArr>
                                </m:e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(1&lt;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≤2)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(2&lt;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altLang="ja-JP" sz="2100"/>
                </a:p>
              </p:txBody>
            </p:sp>
          </mc:Choice>
          <mc:Fallback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5C615F1-0DB7-4329-97A3-178C9068D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302" y="1084081"/>
                  <a:ext cx="5742796" cy="1766702"/>
                </a:xfrm>
                <a:prstGeom prst="rect">
                  <a:avLst/>
                </a:prstGeom>
                <a:blipFill>
                  <a:blip r:embed="rId4"/>
                  <a:stretch>
                    <a:fillRect b="-114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BE9E188E-13D7-4C2E-911B-F2DC31A2A793}"/>
                    </a:ext>
                  </a:extLst>
                </p:cNvPr>
                <p:cNvSpPr txBox="1"/>
                <p:nvPr/>
              </p:nvSpPr>
              <p:spPr>
                <a:xfrm>
                  <a:off x="2044724" y="2744518"/>
                  <a:ext cx="333808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altLang="ja-JP" sz="1600"/>
                    <a:t>: distance b/w grids</a:t>
                  </a:r>
                </a:p>
                <a:p>
                  <a14:m>
                    <m:oMath xmlns:m="http://schemas.openxmlformats.org/officeDocument/2006/math"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r>
                    <a:rPr lang="en-US" altLang="ja-JP" sz="1600"/>
                    <a:t>: localization length scale</a:t>
                  </a:r>
                  <a:endParaRPr lang="ja-JP" altLang="en-US" sz="1600"/>
                </a:p>
              </p:txBody>
            </p:sp>
          </mc:Choice>
          <mc:Fallback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BE9E188E-13D7-4C2E-911B-F2DC31A2A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724" y="2744518"/>
                  <a:ext cx="3338084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3488" b="-25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EADB4CE-1178-411E-A30D-AE8975C20064}"/>
                </a:ext>
              </a:extLst>
            </p:cNvPr>
            <p:cNvSpPr txBox="1"/>
            <p:nvPr/>
          </p:nvSpPr>
          <p:spPr>
            <a:xfrm>
              <a:off x="1794409" y="1125259"/>
              <a:ext cx="2913806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b="1" err="1"/>
                <a:t>Gaspari</a:t>
              </a:r>
              <a:r>
                <a:rPr lang="en-US" altLang="ja-JP" sz="1400" b="1"/>
                <a:t> Cohn Function</a:t>
              </a:r>
              <a:endParaRPr lang="ja-JP" altLang="en-US" sz="1400" b="1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448FF85-5735-4752-BBEB-F3D05FC561E9}"/>
                </a:ext>
              </a:extLst>
            </p:cNvPr>
            <p:cNvSpPr txBox="1"/>
            <p:nvPr/>
          </p:nvSpPr>
          <p:spPr>
            <a:xfrm>
              <a:off x="6360757" y="3030240"/>
              <a:ext cx="3155189" cy="374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err="1"/>
                <a:t>Gaspari</a:t>
              </a:r>
              <a:r>
                <a:rPr lang="en-US" altLang="ja-JP" sz="1600"/>
                <a:t> and Cohn (1999)</a:t>
              </a:r>
              <a:endParaRPr lang="ja-JP" altLang="en-US" sz="160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A1B92B3F-D984-4AB6-8854-D645479EB393}"/>
                </a:ext>
              </a:extLst>
            </p:cNvPr>
            <p:cNvSpPr txBox="1"/>
            <p:nvPr/>
          </p:nvSpPr>
          <p:spPr>
            <a:xfrm>
              <a:off x="3235819" y="2386172"/>
              <a:ext cx="15610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i="1">
                  <a:solidFill>
                    <a:srgbClr val="FF0000"/>
                  </a:solidFill>
                </a:rPr>
                <a:t>tuning parameter</a:t>
              </a:r>
              <a:endParaRPr lang="ja-JP" altLang="en-US" sz="1400" i="1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EAF12D5-AC91-4B8F-BDDB-21B1C897478C}"/>
                  </a:ext>
                </a:extLst>
              </p:cNvPr>
              <p:cNvSpPr txBox="1"/>
              <p:nvPr/>
            </p:nvSpPr>
            <p:spPr>
              <a:xfrm>
                <a:off x="333602" y="1630247"/>
                <a:ext cx="4773986" cy="499880"/>
              </a:xfrm>
              <a:prstGeom prst="rect">
                <a:avLst/>
              </a:prstGeom>
              <a:noFill/>
              <a:ln w="38100">
                <a:solidFill>
                  <a:srgbClr val="DE0012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ja-JP" altLang="en-US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ja-JP" altLang="en-US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kumimoji="0" lang="ja-JP" altLang="en-US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altLang="ja-JP" sz="20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ja-JP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kumimoji="0" lang="en-US" altLang="ja-JP" sz="20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Sup>
                        <m:sSubSupPr>
                          <m:ctrlPr>
                            <a:rPr kumimoji="0" lang="en-US" altLang="ja-JP" sz="20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ja-JP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p>
                        <m:sSupPr>
                          <m:ctrlP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ja-JP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0" lang="en-US" altLang="ja-JP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  <m:sub>
                              <m:r>
                                <a:rPr kumimoji="0" lang="en-US" altLang="ja-JP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0" lang="en-US" altLang="ja-JP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  <m:r>
                            <a:rPr kumimoji="0" lang="en-US" altLang="ja-JP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altLang="ja-JP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  <m:r>
                                <a:rPr kumimoji="0" lang="en-US" altLang="ja-JP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ja-JP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333333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0" lang="en-US" altLang="ja-JP" sz="2000" b="1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altLang="ja-JP" sz="2000" b="1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𝐘</m:t>
                                      </m:r>
                                    </m:e>
                                    <m:sub>
                                      <m: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ja-JP" sz="2000" b="1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kumimoji="0" lang="en-US" altLang="ja-JP" sz="2000" b="1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0" lang="en-US" altLang="ja-JP" sz="2000" b="1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𝐘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ja-JP" sz="2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kumimoji="0" lang="en-US" altLang="ja-JP" sz="2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  <m:r>
                                        <a:rPr kumimoji="0" lang="en-US" altLang="ja-JP" sz="2000" b="1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</m:e>
                        <m:sup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lang="ja-JP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メイリオ"/>
                </a:endParaRP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EAF12D5-AC91-4B8F-BDDB-21B1C8974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02" y="1630247"/>
                <a:ext cx="4773986" cy="4998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DE001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2F8359E-A2DF-4A3F-8DA8-65F3D0D886DE}"/>
              </a:ext>
            </a:extLst>
          </p:cNvPr>
          <p:cNvSpPr/>
          <p:nvPr/>
        </p:nvSpPr>
        <p:spPr>
          <a:xfrm>
            <a:off x="1409444" y="1762091"/>
            <a:ext cx="1052626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561EAC8-DE24-4939-A063-73AC9822C978}"/>
              </a:ext>
            </a:extLst>
          </p:cNvPr>
          <p:cNvSpPr/>
          <p:nvPr/>
        </p:nvSpPr>
        <p:spPr>
          <a:xfrm>
            <a:off x="2952197" y="1742306"/>
            <a:ext cx="1035850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5D55DEF-871A-471B-BA9E-0F1B3FE8096C}"/>
                  </a:ext>
                </a:extLst>
              </p:cNvPr>
              <p:cNvSpPr txBox="1"/>
              <p:nvPr/>
            </p:nvSpPr>
            <p:spPr>
              <a:xfrm>
                <a:off x="851795" y="2301473"/>
                <a:ext cx="3385026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>
                    <a:solidFill>
                      <a:srgbClr val="FF0000"/>
                    </a:solidFill>
                  </a:rPr>
                  <a:t>塗りつぶしが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ja-JP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ja-JP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に対応する</m:t>
                    </m:r>
                  </m:oMath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5D55DEF-871A-471B-BA9E-0F1B3FE80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95" y="2301473"/>
                <a:ext cx="3385026" cy="374270"/>
              </a:xfrm>
              <a:prstGeom prst="rect">
                <a:avLst/>
              </a:prstGeom>
              <a:blipFill>
                <a:blip r:embed="rId7"/>
                <a:stretch>
                  <a:fillRect l="-1622" t="-6557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図 21">
            <a:extLst>
              <a:ext uri="{FF2B5EF4-FFF2-40B4-BE49-F238E27FC236}">
                <a16:creationId xmlns:a16="http://schemas.microsoft.com/office/drawing/2014/main" id="{6CB35DEB-99A8-466F-80F2-E0354FCA2F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121" y="3488287"/>
            <a:ext cx="4382810" cy="25200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B1B0985A-676C-4CC2-9570-BBEE44683B9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6285"/>
          <a:stretch/>
        </p:blipFill>
        <p:spPr>
          <a:xfrm>
            <a:off x="5084971" y="3404518"/>
            <a:ext cx="3191753" cy="168687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595AC9CB-87F6-4F33-BF5F-77A4A587E78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6049"/>
          <a:stretch/>
        </p:blipFill>
        <p:spPr>
          <a:xfrm>
            <a:off x="8629721" y="3404517"/>
            <a:ext cx="3191753" cy="1691109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73A2547D-D2D4-4F6A-8688-6F461CC907E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6285"/>
          <a:stretch/>
        </p:blipFill>
        <p:spPr>
          <a:xfrm>
            <a:off x="5046311" y="5171122"/>
            <a:ext cx="3269072" cy="168687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BF7E1DC5-A9EA-4C0C-BE77-0274284F8DF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6049"/>
          <a:stretch/>
        </p:blipFill>
        <p:spPr>
          <a:xfrm>
            <a:off x="8591061" y="5156639"/>
            <a:ext cx="3269072" cy="1691110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0779BBF-6614-466C-9E01-6A0A7681CEDA}"/>
              </a:ext>
            </a:extLst>
          </p:cNvPr>
          <p:cNvSpPr txBox="1"/>
          <p:nvPr/>
        </p:nvSpPr>
        <p:spPr>
          <a:xfrm>
            <a:off x="886692" y="3327351"/>
            <a:ext cx="32766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局所化なし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(m=100)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2EAC526-5A5E-4B49-8DC6-4C6EE4CC6549}"/>
              </a:ext>
            </a:extLst>
          </p:cNvPr>
          <p:cNvSpPr txBox="1"/>
          <p:nvPr/>
        </p:nvSpPr>
        <p:spPr>
          <a:xfrm>
            <a:off x="6303433" y="2972771"/>
            <a:ext cx="45084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局所化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あり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(m=100, inflation=5.0%)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91EE165C-785E-4FED-8419-397A87E7E6F1}"/>
                  </a:ext>
                </a:extLst>
              </p:cNvPr>
              <p:cNvSpPr txBox="1"/>
              <p:nvPr/>
            </p:nvSpPr>
            <p:spPr>
              <a:xfrm>
                <a:off x="6221707" y="3292813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/>
                  <a:t>=40</a:t>
                </a:r>
                <a:endParaRPr kumimoji="1" lang="ja-JP" altLang="en-US" sz="1200"/>
              </a:p>
            </p:txBody>
          </p:sp>
        </mc:Choice>
        <mc:Fallback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91EE165C-785E-4FED-8419-397A87E7E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707" y="3292813"/>
                <a:ext cx="1188809" cy="276999"/>
              </a:xfrm>
              <a:prstGeom prst="rect">
                <a:avLst/>
              </a:prstGeom>
              <a:blipFill>
                <a:blip r:embed="rId1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64FB73-1027-44E1-A5C9-990F1369FB72}"/>
                  </a:ext>
                </a:extLst>
              </p:cNvPr>
              <p:cNvSpPr txBox="1"/>
              <p:nvPr/>
            </p:nvSpPr>
            <p:spPr>
              <a:xfrm>
                <a:off x="9773474" y="3264616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/>
                  <a:t>=10</a:t>
                </a:r>
                <a:endParaRPr kumimoji="1" lang="ja-JP" altLang="en-US" sz="1200"/>
              </a:p>
            </p:txBody>
          </p:sp>
        </mc:Choice>
        <mc:Fallback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64FB73-1027-44E1-A5C9-990F1369F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474" y="3264616"/>
                <a:ext cx="1188809" cy="276999"/>
              </a:xfrm>
              <a:prstGeom prst="rect">
                <a:avLst/>
              </a:prstGeom>
              <a:blipFill>
                <a:blip r:embed="rId1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88EAF11-05F2-4734-A59E-1CBE7E5E575D}"/>
                  </a:ext>
                </a:extLst>
              </p:cNvPr>
              <p:cNvSpPr txBox="1"/>
              <p:nvPr/>
            </p:nvSpPr>
            <p:spPr>
              <a:xfrm>
                <a:off x="6158915" y="5099737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/>
                  <a:t>=3</a:t>
                </a:r>
                <a:endParaRPr kumimoji="1" lang="ja-JP" altLang="en-US" sz="1200"/>
              </a:p>
            </p:txBody>
          </p:sp>
        </mc:Choice>
        <mc:Fallback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88EAF11-05F2-4734-A59E-1CBE7E5E5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915" y="5099737"/>
                <a:ext cx="1188809" cy="276999"/>
              </a:xfrm>
              <a:prstGeom prst="rect">
                <a:avLst/>
              </a:prstGeom>
              <a:blipFill>
                <a:blip r:embed="rId1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337E15E-CC87-4C7E-ACB1-EA43302C9D07}"/>
                  </a:ext>
                </a:extLst>
              </p:cNvPr>
              <p:cNvSpPr txBox="1"/>
              <p:nvPr/>
            </p:nvSpPr>
            <p:spPr>
              <a:xfrm>
                <a:off x="9773473" y="5065346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/>
                  <a:t>=1</a:t>
                </a:r>
                <a:endParaRPr kumimoji="1" lang="ja-JP" altLang="en-US" sz="1200"/>
              </a:p>
            </p:txBody>
          </p:sp>
        </mc:Choice>
        <mc:Fallback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337E15E-CC87-4C7E-ACB1-EA43302C9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473" y="5065346"/>
                <a:ext cx="1188809" cy="276999"/>
              </a:xfrm>
              <a:prstGeom prst="rect">
                <a:avLst/>
              </a:prstGeom>
              <a:blipFill>
                <a:blip r:embed="rId1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23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局所化あり</a:t>
            </a:r>
            <a:r>
              <a:rPr lang="en-US" altLang="ja-JP"/>
              <a:t>Serial </a:t>
            </a:r>
            <a:r>
              <a:rPr lang="en-US" altLang="ja-JP" err="1"/>
              <a:t>EnSRF</a:t>
            </a: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30E457D-EE14-48BB-92AF-72258C68A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93" y="2409296"/>
            <a:ext cx="3889400" cy="288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A363A19-CAB2-4E59-B8E3-5D3145C95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600" y="2409296"/>
            <a:ext cx="3901400" cy="2880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E6CB79C-B728-4C26-9BBC-A29C8814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26" y="2409296"/>
            <a:ext cx="3901419" cy="2880000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3461D55-58BF-4785-8410-B503B7B8626C}"/>
              </a:ext>
            </a:extLst>
          </p:cNvPr>
          <p:cNvSpPr txBox="1"/>
          <p:nvPr/>
        </p:nvSpPr>
        <p:spPr>
          <a:xfrm>
            <a:off x="355600" y="1045633"/>
            <a:ext cx="1148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観測点</a:t>
            </a:r>
            <a:r>
              <a:rPr lang="en-US" altLang="ja-JP" b="1"/>
              <a:t>40</a:t>
            </a:r>
            <a:r>
              <a:rPr lang="ja-JP" altLang="en-US" b="1"/>
              <a:t>個で固定</a:t>
            </a:r>
            <a:endParaRPr kumimoji="1" lang="ja-JP" altLang="en-US" b="1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9644DD4-BEAA-44F8-B247-4CBFA19ED632}"/>
              </a:ext>
            </a:extLst>
          </p:cNvPr>
          <p:cNvSpPr txBox="1"/>
          <p:nvPr/>
        </p:nvSpPr>
        <p:spPr>
          <a:xfrm>
            <a:off x="1286933" y="2070100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/>
              <a:t>M=10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DDCBE0C-3AE7-4147-A06B-3FCEB02FFC08}"/>
              </a:ext>
            </a:extLst>
          </p:cNvPr>
          <p:cNvSpPr txBox="1"/>
          <p:nvPr/>
        </p:nvSpPr>
        <p:spPr>
          <a:xfrm>
            <a:off x="5716625" y="2108200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/>
              <a:t>M=20</a:t>
            </a:r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181468F-142D-41C0-BC87-B66C1BEB78E5}"/>
              </a:ext>
            </a:extLst>
          </p:cNvPr>
          <p:cNvSpPr txBox="1"/>
          <p:nvPr/>
        </p:nvSpPr>
        <p:spPr>
          <a:xfrm>
            <a:off x="9519783" y="2108200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/>
              <a:t>M=30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65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A2681-60CA-F3FC-3B48-095E0233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200"/>
              <a:t>Analysis RMSE (Serial </a:t>
            </a:r>
            <a:r>
              <a:rPr lang="en-US" altLang="ja-JP" sz="3200" err="1"/>
              <a:t>EnSRF</a:t>
            </a:r>
            <a:r>
              <a:rPr lang="en-US" altLang="ja-JP" sz="3200"/>
              <a:t>)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A2D2C0E-3A9A-7EA2-121E-BFC52DBB15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77" t="26966" r="61944" b="44534"/>
          <a:stretch/>
        </p:blipFill>
        <p:spPr>
          <a:xfrm>
            <a:off x="6525682" y="919502"/>
            <a:ext cx="3533041" cy="289513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DB45A0A-62AC-5C14-6B19-F654AE453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347" y="892619"/>
            <a:ext cx="3960000" cy="2970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B300EF-7801-38F6-4E61-08D282484A63}"/>
              </a:ext>
            </a:extLst>
          </p:cNvPr>
          <p:cNvSpPr txBox="1"/>
          <p:nvPr/>
        </p:nvSpPr>
        <p:spPr>
          <a:xfrm rot="16200000">
            <a:off x="698255" y="2090399"/>
            <a:ext cx="2408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/>
              <a:t>Y axis: inflation factor (δ)</a:t>
            </a:r>
            <a:endParaRPr lang="ja-JP" altLang="en-US" sz="16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A4C810-ADD9-08C2-53A3-E14A285652BA}"/>
              </a:ext>
            </a:extLst>
          </p:cNvPr>
          <p:cNvSpPr txBox="1"/>
          <p:nvPr/>
        </p:nvSpPr>
        <p:spPr>
          <a:xfrm>
            <a:off x="8292202" y="3201662"/>
            <a:ext cx="1677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Miyoshi (2005)</a:t>
            </a:r>
            <a:endParaRPr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679105D-67DA-5041-ABD2-A262F5D4F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347" y="3849186"/>
            <a:ext cx="3960000" cy="297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194B270-7C59-C7A9-A24D-97136F2DBB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669" t="25034" r="66663" b="43852"/>
          <a:stretch/>
        </p:blipFill>
        <p:spPr>
          <a:xfrm>
            <a:off x="6499474" y="3862619"/>
            <a:ext cx="3558927" cy="280967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358A03B-62F3-7E53-4E04-A051F81D67DF}"/>
              </a:ext>
            </a:extLst>
          </p:cNvPr>
          <p:cNvSpPr txBox="1"/>
          <p:nvPr/>
        </p:nvSpPr>
        <p:spPr>
          <a:xfrm>
            <a:off x="8244864" y="6086219"/>
            <a:ext cx="1677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Miyoshi (2006)</a:t>
            </a:r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C2F737-DA10-3733-3E75-FF4843C0E94A}"/>
              </a:ext>
            </a:extLst>
          </p:cNvPr>
          <p:cNvSpPr txBox="1"/>
          <p:nvPr/>
        </p:nvSpPr>
        <p:spPr>
          <a:xfrm>
            <a:off x="2268910" y="4038570"/>
            <a:ext cx="248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err="1"/>
              <a:t>Kotsuki</a:t>
            </a:r>
            <a:r>
              <a:rPr lang="en-US" altLang="ja-JP" sz="2000"/>
              <a:t> (</a:t>
            </a:r>
            <a:r>
              <a:rPr lang="en-US" altLang="ja-JP" sz="2000" i="1"/>
              <a:t>m</a:t>
            </a:r>
            <a:r>
              <a:rPr lang="en-US" altLang="ja-JP" sz="2000"/>
              <a:t>=8, </a:t>
            </a:r>
            <a:r>
              <a:rPr lang="en-US" altLang="ja-JP" sz="2000" i="1"/>
              <a:t>p</a:t>
            </a:r>
            <a:r>
              <a:rPr lang="en-US" altLang="ja-JP" sz="2000"/>
              <a:t>=20)</a:t>
            </a:r>
            <a:endParaRPr lang="ja-JP" altLang="en-US" sz="20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115E41-3E9D-A1D0-49D7-B3669F9F3416}"/>
              </a:ext>
            </a:extLst>
          </p:cNvPr>
          <p:cNvSpPr txBox="1"/>
          <p:nvPr/>
        </p:nvSpPr>
        <p:spPr>
          <a:xfrm>
            <a:off x="2268911" y="1078095"/>
            <a:ext cx="2624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err="1"/>
              <a:t>Kotsuki</a:t>
            </a:r>
            <a:r>
              <a:rPr lang="en-US" altLang="ja-JP" sz="2000"/>
              <a:t> (</a:t>
            </a:r>
            <a:r>
              <a:rPr lang="en-US" altLang="ja-JP" sz="2000" i="1"/>
              <a:t>m</a:t>
            </a:r>
            <a:r>
              <a:rPr lang="en-US" altLang="ja-JP" sz="2000"/>
              <a:t>=10, </a:t>
            </a:r>
            <a:r>
              <a:rPr lang="en-US" altLang="ja-JP" sz="2000" i="1"/>
              <a:t>p</a:t>
            </a:r>
            <a:r>
              <a:rPr lang="en-US" altLang="ja-JP" sz="2000"/>
              <a:t>=40)</a:t>
            </a:r>
            <a:endParaRPr lang="ja-JP" altLang="en-US" sz="20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C53AD1B-18CE-B5FC-74B8-4B225971F200}"/>
              </a:ext>
            </a:extLst>
          </p:cNvPr>
          <p:cNvSpPr txBox="1"/>
          <p:nvPr/>
        </p:nvSpPr>
        <p:spPr>
          <a:xfrm rot="16200000">
            <a:off x="698255" y="5012774"/>
            <a:ext cx="2408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/>
              <a:t>Y axis: inflation factor (δ)</a:t>
            </a:r>
            <a:endParaRPr lang="ja-JP" altLang="en-US" sz="16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0E2D0DD-AA43-1FA4-92F1-D17BDDAE7468}"/>
              </a:ext>
            </a:extLst>
          </p:cNvPr>
          <p:cNvSpPr txBox="1"/>
          <p:nvPr/>
        </p:nvSpPr>
        <p:spPr>
          <a:xfrm>
            <a:off x="5233897" y="6511225"/>
            <a:ext cx="3249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/>
              <a:t>X axis: localization length scale (σ)</a:t>
            </a:r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47982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表紙について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ja-JP" altLang="en-US"/>
              <a:t>表紙については、テンプレートを気にせず自由に変更してください。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37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表紙について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ja-JP" altLang="en-US"/>
              <a:t>表紙については、テンプレートを気にせず自由に変更してください。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29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テーマ</vt:lpstr>
      <vt:lpstr>地球観測社会システム 第5回経過報告</vt:lpstr>
      <vt:lpstr>Basic Task 5</vt:lpstr>
      <vt:lpstr>局所化したPO法</vt:lpstr>
      <vt:lpstr>局所化ありSerial EnSRF</vt:lpstr>
      <vt:lpstr>Analysis RMSE (Serial EnSRF)</vt:lpstr>
      <vt:lpstr>表紙について</vt:lpstr>
      <vt:lpstr>表紙について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第4回経過報告</dc:title>
  <dc:creator>cgfa6170</dc:creator>
  <cp:revision>1</cp:revision>
  <dcterms:created xsi:type="dcterms:W3CDTF">2025-11-13T05:09:00Z</dcterms:created>
  <dcterms:modified xsi:type="dcterms:W3CDTF">2025-11-20T05:33:56Z</dcterms:modified>
</cp:coreProperties>
</file>