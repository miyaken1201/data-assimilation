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745" r:id="rId2"/>
    <p:sldId id="1985" r:id="rId3"/>
    <p:sldId id="584" r:id="rId4"/>
    <p:sldId id="1991" r:id="rId5"/>
    <p:sldId id="746" r:id="rId6"/>
    <p:sldId id="74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2198" autoAdjust="0"/>
  </p:normalViewPr>
  <p:slideViewPr>
    <p:cSldViewPr snapToGrid="0">
      <p:cViewPr varScale="1">
        <p:scale>
          <a:sx n="52" d="100"/>
          <a:sy n="52" d="100"/>
        </p:scale>
        <p:origin x="11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gfa6170" userId="46cde8c4-1d5f-444e-a8bb-106eec3feaad" providerId="ADAL" clId="{5A9CFBFA-7F43-48C9-8C0E-B1A6A5E6A99A}"/>
    <pc:docChg chg="undo custSel addSld delSld modSld">
      <pc:chgData name="cgfa6170" userId="46cde8c4-1d5f-444e-a8bb-106eec3feaad" providerId="ADAL" clId="{5A9CFBFA-7F43-48C9-8C0E-B1A6A5E6A99A}" dt="2025-10-16T06:03:27.152" v="2497" actId="20577"/>
      <pc:docMkLst>
        <pc:docMk/>
      </pc:docMkLst>
      <pc:sldChg chg="addSp delSp modSp mod modNotesTx">
        <pc:chgData name="cgfa6170" userId="46cde8c4-1d5f-444e-a8bb-106eec3feaad" providerId="ADAL" clId="{5A9CFBFA-7F43-48C9-8C0E-B1A6A5E6A99A}" dt="2025-10-16T05:59:58.094" v="2159" actId="20577"/>
        <pc:sldMkLst>
          <pc:docMk/>
          <pc:sldMk cId="375693231" sldId="584"/>
        </pc:sldMkLst>
        <pc:spChg chg="mod">
          <ac:chgData name="cgfa6170" userId="46cde8c4-1d5f-444e-a8bb-106eec3feaad" providerId="ADAL" clId="{5A9CFBFA-7F43-48C9-8C0E-B1A6A5E6A99A}" dt="2025-10-16T04:23:17.738" v="3" actId="20577"/>
          <ac:spMkLst>
            <pc:docMk/>
            <pc:sldMk cId="375693231" sldId="584"/>
            <ac:spMk id="6" creationId="{8F99F45E-6E11-42BE-BE28-1DC6881DC7CE}"/>
          </ac:spMkLst>
        </pc:spChg>
        <pc:spChg chg="add del mod">
          <ac:chgData name="cgfa6170" userId="46cde8c4-1d5f-444e-a8bb-106eec3feaad" providerId="ADAL" clId="{5A9CFBFA-7F43-48C9-8C0E-B1A6A5E6A99A}" dt="2025-10-16T04:43:08.575" v="1131" actId="20577"/>
          <ac:spMkLst>
            <pc:docMk/>
            <pc:sldMk cId="375693231" sldId="584"/>
            <ac:spMk id="7" creationId="{2B8E83CA-CFAE-4900-9BEE-979834A48AFD}"/>
          </ac:spMkLst>
        </pc:spChg>
        <pc:picChg chg="del">
          <ac:chgData name="cgfa6170" userId="46cde8c4-1d5f-444e-a8bb-106eec3feaad" providerId="ADAL" clId="{5A9CFBFA-7F43-48C9-8C0E-B1A6A5E6A99A}" dt="2025-10-16T04:25:52.945" v="11" actId="478"/>
          <ac:picMkLst>
            <pc:docMk/>
            <pc:sldMk cId="375693231" sldId="584"/>
            <ac:picMk id="3" creationId="{352F51DC-0DB1-4141-8123-16B7AB4398A7}"/>
          </ac:picMkLst>
        </pc:picChg>
        <pc:picChg chg="add del mod ord">
          <ac:chgData name="cgfa6170" userId="46cde8c4-1d5f-444e-a8bb-106eec3feaad" providerId="ADAL" clId="{5A9CFBFA-7F43-48C9-8C0E-B1A6A5E6A99A}" dt="2025-10-16T04:31:27.107" v="125" actId="22"/>
          <ac:picMkLst>
            <pc:docMk/>
            <pc:sldMk cId="375693231" sldId="584"/>
            <ac:picMk id="4" creationId="{633E00EE-4CC0-4FFC-BBAD-5990B7690CF3}"/>
          </ac:picMkLst>
        </pc:picChg>
        <pc:picChg chg="add del mod ord">
          <ac:chgData name="cgfa6170" userId="46cde8c4-1d5f-444e-a8bb-106eec3feaad" providerId="ADAL" clId="{5A9CFBFA-7F43-48C9-8C0E-B1A6A5E6A99A}" dt="2025-10-16T04:31:35.128" v="129" actId="22"/>
          <ac:picMkLst>
            <pc:docMk/>
            <pc:sldMk cId="375693231" sldId="584"/>
            <ac:picMk id="8" creationId="{DCF7698B-246B-45EA-9629-887718F4C11A}"/>
          </ac:picMkLst>
        </pc:picChg>
        <pc:picChg chg="add del mod">
          <ac:chgData name="cgfa6170" userId="46cde8c4-1d5f-444e-a8bb-106eec3feaad" providerId="ADAL" clId="{5A9CFBFA-7F43-48C9-8C0E-B1A6A5E6A99A}" dt="2025-10-16T04:34:12.869" v="330" actId="478"/>
          <ac:picMkLst>
            <pc:docMk/>
            <pc:sldMk cId="375693231" sldId="584"/>
            <ac:picMk id="10" creationId="{D7E8368F-1BD3-4946-9295-E8D26A487C74}"/>
          </ac:picMkLst>
        </pc:picChg>
        <pc:picChg chg="del">
          <ac:chgData name="cgfa6170" userId="46cde8c4-1d5f-444e-a8bb-106eec3feaad" providerId="ADAL" clId="{5A9CFBFA-7F43-48C9-8C0E-B1A6A5E6A99A}" dt="2025-10-16T04:25:54.141" v="12" actId="478"/>
          <ac:picMkLst>
            <pc:docMk/>
            <pc:sldMk cId="375693231" sldId="584"/>
            <ac:picMk id="11" creationId="{9D97E971-8006-4B35-8BE0-37DA0963B001}"/>
          </ac:picMkLst>
        </pc:picChg>
        <pc:picChg chg="add mod">
          <ac:chgData name="cgfa6170" userId="46cde8c4-1d5f-444e-a8bb-106eec3feaad" providerId="ADAL" clId="{5A9CFBFA-7F43-48C9-8C0E-B1A6A5E6A99A}" dt="2025-10-16T04:39:05.668" v="843" actId="1076"/>
          <ac:picMkLst>
            <pc:docMk/>
            <pc:sldMk cId="375693231" sldId="584"/>
            <ac:picMk id="13" creationId="{E2357710-6CE9-4ED4-8704-7C853C55646D}"/>
          </ac:picMkLst>
        </pc:picChg>
        <pc:picChg chg="add mod">
          <ac:chgData name="cgfa6170" userId="46cde8c4-1d5f-444e-a8bb-106eec3feaad" providerId="ADAL" clId="{5A9CFBFA-7F43-48C9-8C0E-B1A6A5E6A99A}" dt="2025-10-16T04:39:07.317" v="844" actId="1076"/>
          <ac:picMkLst>
            <pc:docMk/>
            <pc:sldMk cId="375693231" sldId="584"/>
            <ac:picMk id="15" creationId="{A70A171A-C67A-46B6-A8B4-A0D418576731}"/>
          </ac:picMkLst>
        </pc:picChg>
      </pc:sldChg>
      <pc:sldChg chg="modSp mod">
        <pc:chgData name="cgfa6170" userId="46cde8c4-1d5f-444e-a8bb-106eec3feaad" providerId="ADAL" clId="{5A9CFBFA-7F43-48C9-8C0E-B1A6A5E6A99A}" dt="2025-10-16T04:23:03.769" v="1" actId="20577"/>
        <pc:sldMkLst>
          <pc:docMk/>
          <pc:sldMk cId="108723299" sldId="745"/>
        </pc:sldMkLst>
        <pc:spChg chg="mod">
          <ac:chgData name="cgfa6170" userId="46cde8c4-1d5f-444e-a8bb-106eec3feaad" providerId="ADAL" clId="{5A9CFBFA-7F43-48C9-8C0E-B1A6A5E6A99A}" dt="2025-10-16T04:23:03.769" v="1" actId="20577"/>
          <ac:spMkLst>
            <pc:docMk/>
            <pc:sldMk cId="108723299" sldId="745"/>
            <ac:spMk id="2" creationId="{1F1801E7-1C75-4533-8F2E-E1D0D70578CB}"/>
          </ac:spMkLst>
        </pc:spChg>
      </pc:sldChg>
      <pc:sldChg chg="addSp delSp modSp mod modNotesTx">
        <pc:chgData name="cgfa6170" userId="46cde8c4-1d5f-444e-a8bb-106eec3feaad" providerId="ADAL" clId="{5A9CFBFA-7F43-48C9-8C0E-B1A6A5E6A99A}" dt="2025-10-16T06:03:27.152" v="2497" actId="20577"/>
        <pc:sldMkLst>
          <pc:docMk/>
          <pc:sldMk cId="3029167758" sldId="746"/>
        </pc:sldMkLst>
        <pc:spChg chg="mod">
          <ac:chgData name="cgfa6170" userId="46cde8c4-1d5f-444e-a8bb-106eec3feaad" providerId="ADAL" clId="{5A9CFBFA-7F43-48C9-8C0E-B1A6A5E6A99A}" dt="2025-10-16T04:24:49.870" v="7" actId="20577"/>
          <ac:spMkLst>
            <pc:docMk/>
            <pc:sldMk cId="3029167758" sldId="746"/>
            <ac:spMk id="6" creationId="{8F99F45E-6E11-42BE-BE28-1DC6881DC7CE}"/>
          </ac:spMkLst>
        </pc:spChg>
        <pc:spChg chg="mod">
          <ac:chgData name="cgfa6170" userId="46cde8c4-1d5f-444e-a8bb-106eec3feaad" providerId="ADAL" clId="{5A9CFBFA-7F43-48C9-8C0E-B1A6A5E6A99A}" dt="2025-10-16T04:49:33.607" v="1948" actId="20577"/>
          <ac:spMkLst>
            <pc:docMk/>
            <pc:sldMk cId="3029167758" sldId="746"/>
            <ac:spMk id="7" creationId="{2B8E83CA-CFAE-4900-9BEE-979834A48AFD}"/>
          </ac:spMkLst>
        </pc:spChg>
        <pc:picChg chg="add del">
          <ac:chgData name="cgfa6170" userId="46cde8c4-1d5f-444e-a8bb-106eec3feaad" providerId="ADAL" clId="{5A9CFBFA-7F43-48C9-8C0E-B1A6A5E6A99A}" dt="2025-10-16T04:43:49.208" v="1135" actId="478"/>
          <ac:picMkLst>
            <pc:docMk/>
            <pc:sldMk cId="3029167758" sldId="746"/>
            <ac:picMk id="3" creationId="{82F5DDD5-909B-4D2F-B30C-D1607A3F2051}"/>
          </ac:picMkLst>
        </pc:picChg>
        <pc:picChg chg="del">
          <ac:chgData name="cgfa6170" userId="46cde8c4-1d5f-444e-a8bb-106eec3feaad" providerId="ADAL" clId="{5A9CFBFA-7F43-48C9-8C0E-B1A6A5E6A99A}" dt="2025-10-16T04:43:19.234" v="1132" actId="478"/>
          <ac:picMkLst>
            <pc:docMk/>
            <pc:sldMk cId="3029167758" sldId="746"/>
            <ac:picMk id="5" creationId="{1044133F-F9D2-446D-A048-8B3808859FDD}"/>
          </ac:picMkLst>
        </pc:picChg>
        <pc:picChg chg="add mod">
          <ac:chgData name="cgfa6170" userId="46cde8c4-1d5f-444e-a8bb-106eec3feaad" providerId="ADAL" clId="{5A9CFBFA-7F43-48C9-8C0E-B1A6A5E6A99A}" dt="2025-10-16T04:49:46.798" v="1963" actId="1036"/>
          <ac:picMkLst>
            <pc:docMk/>
            <pc:sldMk cId="3029167758" sldId="746"/>
            <ac:picMk id="8" creationId="{4928B4AB-109B-49F6-9722-97BABE3EF3C2}"/>
          </ac:picMkLst>
        </pc:picChg>
        <pc:picChg chg="del">
          <ac:chgData name="cgfa6170" userId="46cde8c4-1d5f-444e-a8bb-106eec3feaad" providerId="ADAL" clId="{5A9CFBFA-7F43-48C9-8C0E-B1A6A5E6A99A}" dt="2025-10-16T04:43:20.359" v="1133" actId="478"/>
          <ac:picMkLst>
            <pc:docMk/>
            <pc:sldMk cId="3029167758" sldId="746"/>
            <ac:picMk id="9" creationId="{59EEF2A6-55DC-4A36-9269-9E21512DB974}"/>
          </ac:picMkLst>
        </pc:picChg>
        <pc:picChg chg="add mod">
          <ac:chgData name="cgfa6170" userId="46cde8c4-1d5f-444e-a8bb-106eec3feaad" providerId="ADAL" clId="{5A9CFBFA-7F43-48C9-8C0E-B1A6A5E6A99A}" dt="2025-10-16T04:49:46.798" v="1963" actId="1036"/>
          <ac:picMkLst>
            <pc:docMk/>
            <pc:sldMk cId="3029167758" sldId="746"/>
            <ac:picMk id="11" creationId="{A87228BE-7338-4E83-8C06-55E805A2C942}"/>
          </ac:picMkLst>
        </pc:picChg>
      </pc:sldChg>
      <pc:sldChg chg="del">
        <pc:chgData name="cgfa6170" userId="46cde8c4-1d5f-444e-a8bb-106eec3feaad" providerId="ADAL" clId="{5A9CFBFA-7F43-48C9-8C0E-B1A6A5E6A99A}" dt="2025-10-16T04:24:40.067" v="5" actId="47"/>
        <pc:sldMkLst>
          <pc:docMk/>
          <pc:sldMk cId="1456858763" sldId="747"/>
        </pc:sldMkLst>
      </pc:sldChg>
      <pc:sldChg chg="addSp delSp modSp mod">
        <pc:chgData name="cgfa6170" userId="46cde8c4-1d5f-444e-a8bb-106eec3feaad" providerId="ADAL" clId="{5A9CFBFA-7F43-48C9-8C0E-B1A6A5E6A99A}" dt="2025-10-16T05:31:15.082" v="2089" actId="1076"/>
        <pc:sldMkLst>
          <pc:docMk/>
          <pc:sldMk cId="1459118883" sldId="748"/>
        </pc:sldMkLst>
        <pc:spChg chg="mod">
          <ac:chgData name="cgfa6170" userId="46cde8c4-1d5f-444e-a8bb-106eec3feaad" providerId="ADAL" clId="{5A9CFBFA-7F43-48C9-8C0E-B1A6A5E6A99A}" dt="2025-10-16T04:24:53.974" v="9" actId="20577"/>
          <ac:spMkLst>
            <pc:docMk/>
            <pc:sldMk cId="1459118883" sldId="748"/>
            <ac:spMk id="6" creationId="{8F99F45E-6E11-42BE-BE28-1DC6881DC7CE}"/>
          </ac:spMkLst>
        </pc:spChg>
        <pc:spChg chg="add mod">
          <ac:chgData name="cgfa6170" userId="46cde8c4-1d5f-444e-a8bb-106eec3feaad" providerId="ADAL" clId="{5A9CFBFA-7F43-48C9-8C0E-B1A6A5E6A99A}" dt="2025-10-16T05:31:15.082" v="2089" actId="1076"/>
          <ac:spMkLst>
            <pc:docMk/>
            <pc:sldMk cId="1459118883" sldId="748"/>
            <ac:spMk id="7" creationId="{9635F0B4-9382-4F3B-83E7-835D31F8A75D}"/>
          </ac:spMkLst>
        </pc:spChg>
        <pc:picChg chg="del">
          <ac:chgData name="cgfa6170" userId="46cde8c4-1d5f-444e-a8bb-106eec3feaad" providerId="ADAL" clId="{5A9CFBFA-7F43-48C9-8C0E-B1A6A5E6A99A}" dt="2025-10-16T05:29:50.781" v="1964" actId="478"/>
          <ac:picMkLst>
            <pc:docMk/>
            <pc:sldMk cId="1459118883" sldId="748"/>
            <ac:picMk id="3" creationId="{80A71E76-F7DA-4967-A345-F250BB774055}"/>
          </ac:picMkLst>
        </pc:picChg>
        <pc:picChg chg="add mod">
          <ac:chgData name="cgfa6170" userId="46cde8c4-1d5f-444e-a8bb-106eec3feaad" providerId="ADAL" clId="{5A9CFBFA-7F43-48C9-8C0E-B1A6A5E6A99A}" dt="2025-10-16T05:30:06.775" v="1990" actId="1076"/>
          <ac:picMkLst>
            <pc:docMk/>
            <pc:sldMk cId="1459118883" sldId="748"/>
            <ac:picMk id="4" creationId="{647B5B71-4753-41D4-960F-10694041F6D5}"/>
          </ac:picMkLst>
        </pc:picChg>
        <pc:picChg chg="del">
          <ac:chgData name="cgfa6170" userId="46cde8c4-1d5f-444e-a8bb-106eec3feaad" providerId="ADAL" clId="{5A9CFBFA-7F43-48C9-8C0E-B1A6A5E6A99A}" dt="2025-10-16T05:29:51.804" v="1965" actId="478"/>
          <ac:picMkLst>
            <pc:docMk/>
            <pc:sldMk cId="1459118883" sldId="748"/>
            <ac:picMk id="5" creationId="{9D1B1D39-4E61-43E2-80C9-3638DBB3CDED}"/>
          </ac:picMkLst>
        </pc:picChg>
        <pc:picChg chg="del">
          <ac:chgData name="cgfa6170" userId="46cde8c4-1d5f-444e-a8bb-106eec3feaad" providerId="ADAL" clId="{5A9CFBFA-7F43-48C9-8C0E-B1A6A5E6A99A}" dt="2025-10-16T05:29:53.731" v="1967" actId="478"/>
          <ac:picMkLst>
            <pc:docMk/>
            <pc:sldMk cId="1459118883" sldId="748"/>
            <ac:picMk id="9" creationId="{AE2448F9-6093-43CD-8EDD-E68E16A10338}"/>
          </ac:picMkLst>
        </pc:picChg>
        <pc:picChg chg="del">
          <ac:chgData name="cgfa6170" userId="46cde8c4-1d5f-444e-a8bb-106eec3feaad" providerId="ADAL" clId="{5A9CFBFA-7F43-48C9-8C0E-B1A6A5E6A99A}" dt="2025-10-16T05:29:52.774" v="1966" actId="478"/>
          <ac:picMkLst>
            <pc:docMk/>
            <pc:sldMk cId="1459118883" sldId="748"/>
            <ac:picMk id="11" creationId="{28AF376E-2832-4AEA-9D16-AA6BF853F013}"/>
          </ac:picMkLst>
        </pc:picChg>
      </pc:sldChg>
      <pc:sldChg chg="add">
        <pc:chgData name="cgfa6170" userId="46cde8c4-1d5f-444e-a8bb-106eec3feaad" providerId="ADAL" clId="{5A9CFBFA-7F43-48C9-8C0E-B1A6A5E6A99A}" dt="2025-10-16T04:24:26.118" v="4"/>
        <pc:sldMkLst>
          <pc:docMk/>
          <pc:sldMk cId="815313736" sldId="1985"/>
        </pc:sldMkLst>
      </pc:sldChg>
      <pc:sldChg chg="add">
        <pc:chgData name="cgfa6170" userId="46cde8c4-1d5f-444e-a8bb-106eec3feaad" providerId="ADAL" clId="{5A9CFBFA-7F43-48C9-8C0E-B1A6A5E6A99A}" dt="2025-10-16T04:25:42.351" v="10"/>
        <pc:sldMkLst>
          <pc:docMk/>
          <pc:sldMk cId="766170770" sldId="19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83A2-BC4E-476D-B641-FC325B172BAC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85CA5-77D2-4806-A3EA-CD09521DD8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633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9274-D70D-448B-9A15-5674C1B9582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38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ガウシアンノイズの確認→標準正規分布の確率密度関数と比較しよう！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85CA5-77D2-4806-A3EA-CD09521DD8F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587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なんで</a:t>
            </a:r>
            <a:r>
              <a:rPr kumimoji="1" lang="en-US" altLang="ja-JP" dirty="0"/>
              <a:t>Spread</a:t>
            </a:r>
            <a:r>
              <a:rPr kumimoji="1" lang="ja-JP" altLang="en-US" dirty="0"/>
              <a:t>と</a:t>
            </a:r>
            <a:r>
              <a:rPr kumimoji="1" lang="en-US" altLang="ja-JP" dirty="0"/>
              <a:t>Analysis RMSE</a:t>
            </a:r>
            <a:r>
              <a:rPr kumimoji="1" lang="ja-JP" altLang="en-US" dirty="0"/>
              <a:t>を比較するの？</a:t>
            </a:r>
            <a:endParaRPr kumimoji="1" lang="en-US" altLang="ja-JP" dirty="0"/>
          </a:p>
          <a:p>
            <a:r>
              <a:rPr kumimoji="1" lang="ja-JP" altLang="en-US" dirty="0"/>
              <a:t>→</a:t>
            </a:r>
            <a:r>
              <a:rPr kumimoji="1" lang="en-US" altLang="ja-JP" dirty="0"/>
              <a:t>Spread</a:t>
            </a:r>
            <a:r>
              <a:rPr kumimoji="1" lang="ja-JP" altLang="en-US" dirty="0"/>
              <a:t>は同化システム内の真値との推定誤差、</a:t>
            </a:r>
            <a:r>
              <a:rPr kumimoji="1" lang="en-US" altLang="ja-JP" dirty="0"/>
              <a:t>Analysis RMSE</a:t>
            </a:r>
            <a:r>
              <a:rPr kumimoji="1" lang="ja-JP" altLang="en-US" dirty="0"/>
              <a:t>は真値との実際の誤差</a:t>
            </a:r>
            <a:endParaRPr kumimoji="1" lang="en-US" altLang="ja-JP" dirty="0"/>
          </a:p>
          <a:p>
            <a:r>
              <a:rPr kumimoji="1" lang="ja-JP" altLang="en-US" dirty="0"/>
              <a:t>→インフレーションを変えた場合のように、</a:t>
            </a:r>
            <a:r>
              <a:rPr kumimoji="1" lang="en-US" altLang="ja-JP" dirty="0"/>
              <a:t>Analysis RMSE</a:t>
            </a:r>
            <a:r>
              <a:rPr kumimoji="1" lang="ja-JP" altLang="en-US" dirty="0"/>
              <a:t>と</a:t>
            </a:r>
            <a:r>
              <a:rPr kumimoji="1" lang="en-US" altLang="ja-JP" dirty="0"/>
              <a:t>Spread</a:t>
            </a:r>
            <a:r>
              <a:rPr kumimoji="1" lang="ja-JP" altLang="en-US" dirty="0"/>
              <a:t>が乖離している場合がある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785CA5-77D2-4806-A3EA-CD09521DD8F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643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87D7B-558F-4C34-936D-5476A5A72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79C397C-467C-4639-BCAE-B3E11E15E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8264CD-F426-4726-9704-164E64E6E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678881-A7DC-4D1B-95B0-897AF3A1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F215AE-9792-444F-AA3B-8A1B7ABD0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96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EB0E3-6028-4EBC-B791-90819D03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D77B0B-4400-473F-A817-20E60D931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7AAD23-6B5A-456F-A25A-6142E161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4A74BB-44A6-44A4-8901-6BB355814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420FBD-9F00-4C5E-9801-EF930C2B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021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D252B-7C23-4166-A813-3DA90749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53210B-79DB-4766-8CC4-D34D8576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885B4C-1589-48F6-A81E-A6A3A6489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A07306-2285-4AA3-855B-E5EA7152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50F3E8-3D6C-4804-AED5-28FB2F94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22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BBF873-9271-47D3-869A-99D17D3E7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C832D3-B128-4256-ADAE-EFA484384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906DDF-8C1B-4A89-8452-8B78A67DD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12A0F4-B584-4DB0-9F5B-234F46BB7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41AC46-F61E-4102-A084-0DE0B6E3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9BFCA-909C-48ED-83E8-458001B4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090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B497A-4257-459C-9BF3-D49B99176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39D687-64B5-4A32-8F3E-D66279ACF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603A27-3C13-46D7-8A30-8D92D2337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1A8CBA6-03A4-456A-B1B8-2F262E025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E258539-7BDB-4D1F-AD3D-A00A51A49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8FDE5D8-004F-4E3D-97AD-ACEF48D7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0EC2CCD-9711-4277-B1C4-F686E5ECE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2C4E37A-B659-4B94-94DA-D6443E68E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220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5ABA7B-B114-4E16-A4CF-DD468395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095434C-C026-47FB-8340-2B668F2D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DDD1E21-2D1C-438A-8C3C-A57AB8A0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E634616-120F-407C-A919-D0D1FC18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86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B531BF2-2B90-4EAC-85D6-739D6A73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F211E18-C36B-41EC-A623-B27E32C8B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38E7EC-B112-413B-913D-9985A955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15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935CB-0322-4361-96D1-3B5154D1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B5B773-7EFD-4B48-B7A5-DCC7BD524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081BAE-2814-49FE-ADFF-F1C6EF9F4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8C258A-4A29-4673-A39A-140C322D9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810BF1-1717-43B4-83D0-F26C3F63D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EF5703-CA43-4D3B-AB72-CADA430F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07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6C00AB-FD12-4F60-A4F3-5BB7EBCBA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B50932-0309-41E2-BC51-049084FF2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D775B5-B055-4910-B419-D256AA727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019C689-78F0-490A-870A-FB57A9B66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F9E094-EADF-48AC-9A4E-D05D995D3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C8C837-3C2B-4D6A-BE21-DEC35B5A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825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F43759-3A8A-406B-A40C-2793B40C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F7C001-2D4F-46B3-9A1B-1163F9D5C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8F778B-07CC-401A-9F1C-F77D65DD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067113-8C33-4ED2-A480-9FB168BA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E6BE59-0160-4054-B5D1-829F14CB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444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5EC2C5C-6382-4528-A3C3-E94507178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EF7D7A-A10F-4838-B181-D2E0EBDE6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52531F-7213-46E4-ACAF-C5AC82AD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25AA7E-1847-4A98-A795-34E4E86E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340A3-05D7-414F-B0C4-0E27A8FE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815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pt_04.jpg">
            <a:extLst>
              <a:ext uri="{FF2B5EF4-FFF2-40B4-BE49-F238E27FC236}">
                <a16:creationId xmlns:a16="http://schemas.microsoft.com/office/drawing/2014/main" id="{3364F071-DE65-4273-91FA-DD21E91E2C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黒">
            <a:extLst>
              <a:ext uri="{FF2B5EF4-FFF2-40B4-BE49-F238E27FC236}">
                <a16:creationId xmlns:a16="http://schemas.microsoft.com/office/drawing/2014/main" id="{06EF6DD9-5408-4669-8953-6DEA73AD42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C3756405-64EA-43DC-8D5D-43AC388E3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200" y="2765869"/>
            <a:ext cx="10677600" cy="2386800"/>
          </a:xfrm>
        </p:spPr>
        <p:txBody>
          <a:bodyPr lIns="0" tIns="0" rIns="0" bIns="0" anchor="t">
            <a:normAutofit/>
          </a:bodyPr>
          <a:lstStyle>
            <a:lvl1pPr algn="l">
              <a:defRPr sz="5200" b="1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字幕 2">
            <a:extLst>
              <a:ext uri="{FF2B5EF4-FFF2-40B4-BE49-F238E27FC236}">
                <a16:creationId xmlns:a16="http://schemas.microsoft.com/office/drawing/2014/main" id="{276482B5-2179-4922-ACB9-185DE18FB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200" y="5309914"/>
            <a:ext cx="10677563" cy="468000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1C44F3EB-BC3F-4425-8C93-BC899B04B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7200" y="6420774"/>
            <a:ext cx="10677600" cy="360000"/>
          </a:xfrm>
        </p:spPr>
        <p:txBody>
          <a:bodyPr lIns="0" tIns="0" rIns="0" bIns="0">
            <a:normAutofit/>
          </a:bodyPr>
          <a:lstStyle>
            <a:lvl1pPr marL="0" indent="0" algn="l"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日付・会場など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65D397D-3B41-4AF7-95EB-6C3983EF6E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7200" y="5800193"/>
            <a:ext cx="10677600" cy="360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2000" baseline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457200" indent="0">
              <a:buFontTx/>
              <a:buNone/>
              <a:defRPr sz="1400"/>
            </a:lvl2pPr>
            <a:lvl3pPr marL="914400" indent="0">
              <a:buFontTx/>
              <a:buNone/>
              <a:defRPr sz="1400"/>
            </a:lvl3pPr>
            <a:lvl4pPr marL="1371600" indent="0">
              <a:buFontTx/>
              <a:buNone/>
              <a:defRPr sz="1400"/>
            </a:lvl4pPr>
            <a:lvl5pPr marL="1828800" indent="0">
              <a:buFontTx/>
              <a:buNone/>
              <a:defRPr sz="1400"/>
            </a:lvl5pPr>
          </a:lstStyle>
          <a:p>
            <a:pPr lvl="0"/>
            <a:r>
              <a:rPr kumimoji="1" lang="ja-JP" altLang="en-US"/>
              <a:t>所属</a:t>
            </a:r>
          </a:p>
        </p:txBody>
      </p:sp>
    </p:spTree>
    <p:extLst>
      <p:ext uri="{BB962C8B-B14F-4D97-AF65-F5344CB8AC3E}">
        <p14:creationId xmlns:p14="http://schemas.microsoft.com/office/powerpoint/2010/main" val="2573160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5F1B5A-F194-4C25-ADCC-C9851CDE401F}"/>
              </a:ext>
            </a:extLst>
          </p:cNvPr>
          <p:cNvSpPr/>
          <p:nvPr userDrawn="1"/>
        </p:nvSpPr>
        <p:spPr>
          <a:xfrm>
            <a:off x="-1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D6139CD-2273-4AFD-A61C-42970AC41B43}"/>
              </a:ext>
            </a:extLst>
          </p:cNvPr>
          <p:cNvCxnSpPr>
            <a:cxnSpLocks/>
          </p:cNvCxnSpPr>
          <p:nvPr userDrawn="1"/>
        </p:nvCxnSpPr>
        <p:spPr>
          <a:xfrm>
            <a:off x="143999" y="828000"/>
            <a:ext cx="11928001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92EC8F-97B9-4838-A1D0-72C6F9B7D7DD}"/>
              </a:ext>
            </a:extLst>
          </p:cNvPr>
          <p:cNvCxnSpPr>
            <a:cxnSpLocks/>
          </p:cNvCxnSpPr>
          <p:nvPr userDrawn="1"/>
        </p:nvCxnSpPr>
        <p:spPr>
          <a:xfrm>
            <a:off x="0" y="828000"/>
            <a:ext cx="144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68E39387-4B0F-4890-A36C-50768E77C8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984" y="-63833"/>
            <a:ext cx="1548000" cy="997369"/>
          </a:xfrm>
          <a:prstGeom prst="rect">
            <a:avLst/>
          </a:prstGeom>
        </p:spPr>
      </p:pic>
      <p:sp>
        <p:nvSpPr>
          <p:cNvPr id="12" name="タイトル 11">
            <a:extLst>
              <a:ext uri="{FF2B5EF4-FFF2-40B4-BE49-F238E27FC236}">
                <a16:creationId xmlns:a16="http://schemas.microsoft.com/office/drawing/2014/main" id="{9C135227-6D9F-43A2-9359-62BE582AA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44" y="215662"/>
            <a:ext cx="10731600" cy="648000"/>
          </a:xfrm>
        </p:spPr>
        <p:txBody>
          <a:bodyPr>
            <a:normAutofit/>
          </a:bodyPr>
          <a:lstStyle>
            <a:lvl1pPr>
              <a:defRPr sz="3200" b="1" baseline="0">
                <a:latin typeface="Segoe UI" panose="020B0502040204020203" pitchFamily="34" charset="0"/>
                <a:ea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8BDBBF7-5AF0-484C-8F5D-2E63514725B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1086209"/>
            <a:ext cx="11483999" cy="5554800"/>
          </a:xfrm>
        </p:spPr>
        <p:txBody>
          <a:bodyPr lIns="0" tIns="0" rIns="0" bIns="0"/>
          <a:lstStyle>
            <a:lvl1pPr marL="457200" indent="-288000">
              <a:lnSpc>
                <a:spcPct val="100000"/>
              </a:lnSpc>
              <a:spcBef>
                <a:spcPts val="1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1pPr>
            <a:lvl2pPr marL="8001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0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2pPr>
            <a:lvl3pPr marL="125730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3pPr>
            <a:lvl4pPr marL="16573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4pPr>
            <a:lvl5pPr marL="2114550" indent="-2880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53545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862A9-3928-47DA-9187-DA7FD33C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C3F76D-EE9D-4D57-B79F-4C8A5F11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5F9FA8-B799-4D36-9F1D-AC1BBBA79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4A583-91E1-40FC-8B55-9FE867B1AE06}" type="datetimeFigureOut">
              <a:rPr kumimoji="1" lang="ja-JP" altLang="en-US" smtClean="0"/>
              <a:t>2025/10/16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66D61E-949F-48F8-9D3D-39F7C9CE77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63D809-1E42-41E5-8294-76576D1BF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B925-0F46-4E0E-94B1-5922B2F5F4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24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801E7-1C75-4533-8F2E-E1D0D70578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地球観測社会システム</a:t>
            </a:r>
            <a:br>
              <a:rPr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回経過報告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E8FC-4B19-40DC-8D83-16DD22904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宮澤健人</a:t>
            </a:r>
          </a:p>
          <a:p>
            <a:endParaRPr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1BD750-A000-43E0-95F7-FD10619C9F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TW" altLang="en-US" dirty="0"/>
              <a:t>千葉大学</a:t>
            </a:r>
            <a:r>
              <a:rPr lang="ja-JP" altLang="en-US" dirty="0"/>
              <a:t>大学院　融合理工学府　リモートセンシングコース</a:t>
            </a:r>
            <a:r>
              <a:rPr lang="en-US" altLang="ja-JP" dirty="0"/>
              <a:t>1</a:t>
            </a:r>
            <a:r>
              <a:rPr lang="ja-JP" altLang="en-US" dirty="0"/>
              <a:t>年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723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6096A5-5EB6-6CCB-43C9-01C90B3B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3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59B38F5-7757-1F5D-3F68-C8980705F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006" y="1204730"/>
            <a:ext cx="8894616" cy="184327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C55BC0F-081D-9A11-7B33-220DAFE31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407" y="3174188"/>
            <a:ext cx="8820000" cy="59909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166838F-E156-BDA8-7199-53FA6FDB0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5107" y="3822796"/>
            <a:ext cx="8820000" cy="173321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9FE7214-BA95-B7A4-8220-2D709D5952B5}"/>
              </a:ext>
            </a:extLst>
          </p:cNvPr>
          <p:cNvSpPr/>
          <p:nvPr/>
        </p:nvSpPr>
        <p:spPr>
          <a:xfrm>
            <a:off x="3865419" y="1967346"/>
            <a:ext cx="2826327" cy="33943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C5B90CC-5D05-8D98-BFDB-D9EE7471CBC8}"/>
              </a:ext>
            </a:extLst>
          </p:cNvPr>
          <p:cNvSpPr/>
          <p:nvPr/>
        </p:nvSpPr>
        <p:spPr>
          <a:xfrm>
            <a:off x="7570487" y="3473735"/>
            <a:ext cx="2899106" cy="33943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B0E73CC-0C12-F2C8-22C1-DF822210CF0C}"/>
              </a:ext>
            </a:extLst>
          </p:cNvPr>
          <p:cNvSpPr/>
          <p:nvPr/>
        </p:nvSpPr>
        <p:spPr>
          <a:xfrm>
            <a:off x="2131555" y="3810616"/>
            <a:ext cx="3597186" cy="33943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CA1DD0C-E53B-E0CA-C04F-3F724BD855D4}"/>
              </a:ext>
            </a:extLst>
          </p:cNvPr>
          <p:cNvSpPr/>
          <p:nvPr/>
        </p:nvSpPr>
        <p:spPr>
          <a:xfrm>
            <a:off x="1772359" y="6390176"/>
            <a:ext cx="8697235" cy="33943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This means the experiments assume </a:t>
            </a:r>
            <a:r>
              <a:rPr lang="en-US" altLang="ja-JP" b="1" dirty="0">
                <a:solidFill>
                  <a:schemeClr val="tx1"/>
                </a:solidFill>
              </a:rPr>
              <a:t>R</a:t>
            </a:r>
            <a:r>
              <a:rPr lang="en-US" altLang="ja-JP" dirty="0">
                <a:solidFill>
                  <a:schemeClr val="tx1"/>
                </a:solidFill>
              </a:rPr>
              <a:t> to be </a:t>
            </a:r>
            <a:r>
              <a:rPr lang="en-US" altLang="ja-JP" b="1" dirty="0">
                <a:solidFill>
                  <a:schemeClr val="tx1"/>
                </a:solidFill>
              </a:rPr>
              <a:t>I</a:t>
            </a:r>
            <a:r>
              <a:rPr lang="en-US" altLang="ja-JP" dirty="0">
                <a:solidFill>
                  <a:schemeClr val="tx1"/>
                </a:solidFill>
              </a:rPr>
              <a:t> (i.e., identity matrix)</a:t>
            </a:r>
            <a:endParaRPr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313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BasicTask3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60000"/>
          </a:xfrm>
        </p:spPr>
        <p:txBody>
          <a:bodyPr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</a:rPr>
              <a:t>最初の</a:t>
            </a:r>
            <a:r>
              <a:rPr kumimoji="1" lang="en-US" altLang="ja-JP" dirty="0">
                <a:latin typeface="メイリオ" panose="020B0604030504040204" pitchFamily="50" charset="-128"/>
              </a:rPr>
              <a:t>1</a:t>
            </a:r>
            <a:r>
              <a:rPr kumimoji="1" lang="ja-JP" altLang="en-US" dirty="0">
                <a:latin typeface="メイリオ" panose="020B0604030504040204" pitchFamily="50" charset="-128"/>
              </a:rPr>
              <a:t>年をスピンアップとして捨てた後に後半</a:t>
            </a:r>
            <a:r>
              <a:rPr kumimoji="1" lang="en-US" altLang="ja-JP" dirty="0">
                <a:latin typeface="メイリオ" panose="020B0604030504040204" pitchFamily="50" charset="-128"/>
              </a:rPr>
              <a:t>1</a:t>
            </a:r>
            <a:r>
              <a:rPr kumimoji="1" lang="ja-JP" altLang="en-US" dirty="0">
                <a:latin typeface="メイリオ" panose="020B0604030504040204" pitchFamily="50" charset="-128"/>
              </a:rPr>
              <a:t>年分を真値として保存</a:t>
            </a:r>
            <a:endParaRPr kumimoji="1" lang="en-US" altLang="ja-JP" dirty="0">
              <a:latin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</a:rPr>
              <a:t>その後、平均</a:t>
            </a:r>
            <a:r>
              <a:rPr kumimoji="1" lang="en-US" altLang="ja-JP" dirty="0">
                <a:latin typeface="メイリオ" panose="020B0604030504040204" pitchFamily="50" charset="-128"/>
              </a:rPr>
              <a:t>0</a:t>
            </a:r>
            <a:r>
              <a:rPr kumimoji="1" lang="ja-JP" altLang="en-US" dirty="0">
                <a:latin typeface="メイリオ" panose="020B0604030504040204" pitchFamily="50" charset="-128"/>
              </a:rPr>
              <a:t>分散</a:t>
            </a:r>
            <a:r>
              <a:rPr kumimoji="1" lang="en-US" altLang="ja-JP" dirty="0">
                <a:latin typeface="メイリオ" panose="020B0604030504040204" pitchFamily="50" charset="-128"/>
              </a:rPr>
              <a:t>1</a:t>
            </a:r>
            <a:r>
              <a:rPr kumimoji="1" lang="ja-JP" altLang="en-US" dirty="0">
                <a:latin typeface="メイリオ" panose="020B0604030504040204" pitchFamily="50" charset="-128"/>
              </a:rPr>
              <a:t>のガウシアンノイズを真値に加算して観測値として保存</a:t>
            </a:r>
            <a:endParaRPr kumimoji="1" lang="en-US" altLang="ja-JP" dirty="0">
              <a:latin typeface="メイリオ" panose="020B0604030504040204" pitchFamily="50" charset="-128"/>
            </a:endParaRPr>
          </a:p>
          <a:p>
            <a:pPr marL="169200" indent="0">
              <a:buNone/>
            </a:pPr>
            <a:r>
              <a:rPr kumimoji="1" lang="en-US" altLang="ja-JP" sz="2000" dirty="0">
                <a:latin typeface="メイリオ" panose="020B0604030504040204" pitchFamily="50" charset="-128"/>
              </a:rPr>
              <a:t>※</a:t>
            </a:r>
            <a:r>
              <a:rPr kumimoji="1" lang="ja-JP" altLang="en-US" sz="2000" dirty="0">
                <a:latin typeface="メイリオ" panose="020B0604030504040204" pitchFamily="50" charset="-128"/>
              </a:rPr>
              <a:t>相対度数密度は相対度数</a:t>
            </a:r>
            <a:r>
              <a:rPr kumimoji="1" lang="en-US" altLang="ja-JP" sz="2000" dirty="0">
                <a:latin typeface="メイリオ" panose="020B0604030504040204" pitchFamily="50" charset="-128"/>
              </a:rPr>
              <a:t>/</a:t>
            </a:r>
            <a:r>
              <a:rPr kumimoji="1" lang="ja-JP" altLang="en-US" sz="2000" dirty="0">
                <a:latin typeface="メイリオ" panose="020B0604030504040204" pitchFamily="50" charset="-128"/>
              </a:rPr>
              <a:t>階級幅</a:t>
            </a:r>
            <a:r>
              <a:rPr kumimoji="1" lang="en-US" altLang="ja-JP" sz="2000" dirty="0">
                <a:latin typeface="メイリオ" panose="020B0604030504040204" pitchFamily="50" charset="-128"/>
              </a:rPr>
              <a:t>(</a:t>
            </a:r>
            <a:r>
              <a:rPr lang="ja-JP" altLang="en-US" sz="2000" dirty="0">
                <a:latin typeface="メイリオ" panose="020B0604030504040204" pitchFamily="50" charset="-128"/>
              </a:rPr>
              <a:t>相対度数密度</a:t>
            </a:r>
            <a:r>
              <a:rPr lang="en-US" altLang="ja-JP" sz="2000" dirty="0">
                <a:latin typeface="メイリオ" panose="020B0604030504040204" pitchFamily="50" charset="-128"/>
              </a:rPr>
              <a:t>×</a:t>
            </a:r>
            <a:r>
              <a:rPr lang="ja-JP" altLang="en-US" sz="2000" dirty="0">
                <a:latin typeface="メイリオ" panose="020B0604030504040204" pitchFamily="50" charset="-128"/>
              </a:rPr>
              <a:t>階級幅の総和は</a:t>
            </a:r>
            <a:r>
              <a:rPr lang="en-US" altLang="ja-JP" sz="2000" dirty="0">
                <a:latin typeface="メイリオ" panose="020B0604030504040204" pitchFamily="50" charset="-128"/>
              </a:rPr>
              <a:t>1</a:t>
            </a:r>
            <a:r>
              <a:rPr kumimoji="1" lang="en-US" altLang="ja-JP" sz="2000" dirty="0">
                <a:latin typeface="メイリオ" panose="020B0604030504040204" pitchFamily="50" charset="-128"/>
              </a:rPr>
              <a:t>)</a:t>
            </a:r>
            <a:br>
              <a:rPr lang="en-US" altLang="ja-JP" sz="2000" dirty="0">
                <a:latin typeface="メイリオ" panose="020B0604030504040204" pitchFamily="50" charset="-128"/>
              </a:rPr>
            </a:br>
            <a:r>
              <a:rPr lang="ja-JP" altLang="en-US" sz="2000" dirty="0">
                <a:latin typeface="メイリオ" panose="020B0604030504040204" pitchFamily="50" charset="-128"/>
              </a:rPr>
              <a:t>　</a:t>
            </a:r>
            <a:r>
              <a:rPr lang="en-US" altLang="ja-JP" sz="2000" dirty="0">
                <a:latin typeface="メイリオ" panose="020B0604030504040204" pitchFamily="50" charset="-128"/>
              </a:rPr>
              <a:t>-1~1</a:t>
            </a:r>
            <a:r>
              <a:rPr lang="ja-JP" altLang="en-US" sz="2000" dirty="0">
                <a:latin typeface="メイリオ" panose="020B0604030504040204" pitchFamily="50" charset="-128"/>
              </a:rPr>
              <a:t>の階級の相対度数密度</a:t>
            </a:r>
            <a:r>
              <a:rPr lang="en-US" altLang="ja-JP" sz="2000" dirty="0">
                <a:latin typeface="メイリオ" panose="020B0604030504040204" pitchFamily="50" charset="-128"/>
              </a:rPr>
              <a:t>×</a:t>
            </a:r>
            <a:r>
              <a:rPr lang="ja-JP" altLang="en-US" sz="2000" dirty="0">
                <a:latin typeface="メイリオ" panose="020B0604030504040204" pitchFamily="50" charset="-128"/>
              </a:rPr>
              <a:t>階級幅を足すと</a:t>
            </a:r>
            <a:r>
              <a:rPr lang="en-US" altLang="ja-JP" sz="2000" dirty="0">
                <a:latin typeface="メイリオ" panose="020B0604030504040204" pitchFamily="50" charset="-128"/>
              </a:rPr>
              <a:t>0.686</a:t>
            </a:r>
            <a:r>
              <a:rPr lang="ja-JP" altLang="en-US" sz="2000" dirty="0">
                <a:latin typeface="メイリオ" panose="020B0604030504040204" pitchFamily="50" charset="-128"/>
              </a:rPr>
              <a:t>→正規分布の確率密度関数に対応</a:t>
            </a:r>
            <a:endParaRPr lang="en-US" altLang="ja-JP" sz="2000" dirty="0">
              <a:latin typeface="メイリオ" panose="020B0604030504040204" pitchFamily="50" charset="-128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E2357710-6CE9-4ED4-8704-7C853C556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65" y="2718000"/>
            <a:ext cx="5832973" cy="41400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70A171A-C67A-46B6-A8B4-A0D418576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893" y="2718000"/>
            <a:ext cx="5264105" cy="41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80C38-3575-C095-D687-DFE07809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Basic Task 4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11A8AD2-C8F9-1758-BD6E-179C18401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107" y="1284114"/>
            <a:ext cx="8820000" cy="175325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C5C0D31-3C42-9F74-95FA-3F16D5589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3458838"/>
            <a:ext cx="8878707" cy="2146133"/>
          </a:xfrm>
          <a:prstGeom prst="rect">
            <a:avLst/>
          </a:prstGeom>
        </p:spPr>
      </p:pic>
      <p:sp>
        <p:nvSpPr>
          <p:cNvPr id="6" name="タイトル 2">
            <a:extLst>
              <a:ext uri="{FF2B5EF4-FFF2-40B4-BE49-F238E27FC236}">
                <a16:creationId xmlns:a16="http://schemas.microsoft.com/office/drawing/2014/main" id="{037E271D-B63C-DAA1-CA7E-4D336612C750}"/>
              </a:ext>
            </a:extLst>
          </p:cNvPr>
          <p:cNvSpPr txBox="1">
            <a:spLocks/>
          </p:cNvSpPr>
          <p:nvPr/>
        </p:nvSpPr>
        <p:spPr>
          <a:xfrm>
            <a:off x="2071233" y="5895078"/>
            <a:ext cx="8048446" cy="6469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j-cs"/>
              </a:defRPr>
            </a:lvl1pPr>
          </a:lstStyle>
          <a:p>
            <a:r>
              <a:rPr lang="en-US" altLang="ja-JP" dirty="0">
                <a:solidFill>
                  <a:schemeClr val="tx1"/>
                </a:solidFill>
              </a:rPr>
              <a:t>KF </a:t>
            </a:r>
            <a:r>
              <a:rPr lang="en-US" altLang="ja-JP" sz="3200" dirty="0">
                <a:solidFill>
                  <a:schemeClr val="tx1"/>
                </a:solidFill>
              </a:rPr>
              <a:t>(also known as Extended KF)</a:t>
            </a:r>
            <a:endParaRPr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7" name="四角形吹き出し 8">
            <a:extLst>
              <a:ext uri="{FF2B5EF4-FFF2-40B4-BE49-F238E27FC236}">
                <a16:creationId xmlns:a16="http://schemas.microsoft.com/office/drawing/2014/main" id="{408D9528-E3D2-25EA-289B-306BE719DACF}"/>
              </a:ext>
            </a:extLst>
          </p:cNvPr>
          <p:cNvSpPr/>
          <p:nvPr/>
        </p:nvSpPr>
        <p:spPr>
          <a:xfrm>
            <a:off x="7416798" y="78023"/>
            <a:ext cx="3199269" cy="922259"/>
          </a:xfrm>
          <a:prstGeom prst="wedgeRectCallout">
            <a:avLst>
              <a:gd name="adj1" fmla="val -35194"/>
              <a:gd name="adj2" fmla="val 8453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7C7D0D2-7531-9779-A02F-C37E945B1AFF}"/>
              </a:ext>
            </a:extLst>
          </p:cNvPr>
          <p:cNvSpPr txBox="1"/>
          <p:nvPr/>
        </p:nvSpPr>
        <p:spPr>
          <a:xfrm>
            <a:off x="7416798" y="78022"/>
            <a:ext cx="31341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solidFill>
                  <a:schemeClr val="accent1"/>
                </a:solidFill>
              </a:rPr>
              <a:t>An additional treatment</a:t>
            </a:r>
          </a:p>
          <a:p>
            <a:pPr algn="ctr"/>
            <a:r>
              <a:rPr lang="en-US" altLang="ja-JP" dirty="0">
                <a:solidFill>
                  <a:schemeClr val="accent1"/>
                </a:solidFill>
              </a:rPr>
              <a:t>will be needed.</a:t>
            </a:r>
          </a:p>
          <a:p>
            <a:pPr algn="ctr"/>
            <a:r>
              <a:rPr lang="en-US" altLang="ja-JP" dirty="0">
                <a:solidFill>
                  <a:schemeClr val="accent1"/>
                </a:solidFill>
              </a:rPr>
              <a:t>Let’s think about by your self.</a:t>
            </a:r>
            <a:endParaRPr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7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BasikTask4</a:t>
            </a:r>
            <a:endParaRPr kumimoji="1" lang="ja-JP" altLang="en-US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2B8E83CA-CFAE-4900-9BEE-979834A48A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3999" y="863662"/>
            <a:ext cx="11483999" cy="5777347"/>
          </a:xfrm>
        </p:spPr>
        <p:txBody>
          <a:bodyPr/>
          <a:lstStyle/>
          <a:p>
            <a:r>
              <a:rPr kumimoji="1" lang="en-US" altLang="ja-JP" dirty="0"/>
              <a:t>d</a:t>
            </a:r>
            <a:r>
              <a:rPr lang="en-US" altLang="ja-JP" dirty="0"/>
              <a:t>t = 0.05</a:t>
            </a:r>
            <a:r>
              <a:rPr lang="ja-JP" altLang="en-US" dirty="0"/>
              <a:t>として</a:t>
            </a:r>
            <a:r>
              <a:rPr lang="en-US" altLang="ja-JP" dirty="0"/>
              <a:t>Lorenz96</a:t>
            </a:r>
            <a:r>
              <a:rPr lang="ja-JP" altLang="en-US" dirty="0"/>
              <a:t>モデルにおいて</a:t>
            </a:r>
            <a:r>
              <a:rPr lang="en-US" altLang="ja-JP" dirty="0"/>
              <a:t>Kalman Filter</a:t>
            </a:r>
            <a:r>
              <a:rPr lang="ja-JP" altLang="en-US" dirty="0"/>
              <a:t>を用いてデータ同化を実行</a:t>
            </a:r>
            <a:endParaRPr lang="en-US" altLang="ja-JP" dirty="0"/>
          </a:p>
          <a:p>
            <a:r>
              <a:rPr lang="ja-JP" altLang="en-US" dirty="0"/>
              <a:t>インフレーションを設定しない場合</a:t>
            </a:r>
            <a:r>
              <a:rPr lang="en-US" altLang="ja-JP" dirty="0"/>
              <a:t>(</a:t>
            </a:r>
            <a:r>
              <a:rPr lang="ja-JP" altLang="en-US" dirty="0"/>
              <a:t>左図</a:t>
            </a:r>
            <a:r>
              <a:rPr lang="en-US" altLang="ja-JP" dirty="0"/>
              <a:t>)</a:t>
            </a:r>
            <a:r>
              <a:rPr lang="ja-JP" altLang="en-US" dirty="0"/>
              <a:t>は同化ステップが進むにつれて誤差が大きくなる一方で、インフレーションを</a:t>
            </a:r>
            <a:r>
              <a:rPr lang="en-US" altLang="ja-JP" dirty="0"/>
              <a:t>10%</a:t>
            </a:r>
            <a:r>
              <a:rPr lang="ja-JP" altLang="en-US" dirty="0"/>
              <a:t>に設定した場合</a:t>
            </a:r>
            <a:r>
              <a:rPr lang="en-US" altLang="ja-JP" dirty="0"/>
              <a:t>(</a:t>
            </a:r>
            <a:r>
              <a:rPr lang="ja-JP" altLang="en-US" dirty="0"/>
              <a:t>右図</a:t>
            </a:r>
            <a:r>
              <a:rPr lang="en-US" altLang="ja-JP" dirty="0"/>
              <a:t>)</a:t>
            </a:r>
            <a:r>
              <a:rPr lang="ja-JP" altLang="en-US" dirty="0"/>
              <a:t>はステップが進んでも誤差が大きくならなかった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928B4AB-109B-49F6-9722-97BABE3EF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27" y="2718923"/>
            <a:ext cx="5960073" cy="3960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87228BE-7338-4E83-8C06-55E805A2C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25" y="2718923"/>
            <a:ext cx="5960073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67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8F99F45E-6E11-42BE-BE28-1DC6881D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BasicTask4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47B5B71-4753-41D4-960F-10694041F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47" y="1458000"/>
            <a:ext cx="10849960" cy="54000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635F0B4-9382-4F3B-83E7-835D31F8A75D}"/>
              </a:ext>
            </a:extLst>
          </p:cNvPr>
          <p:cNvSpPr txBox="1"/>
          <p:nvPr/>
        </p:nvSpPr>
        <p:spPr>
          <a:xfrm>
            <a:off x="323680" y="972059"/>
            <a:ext cx="11636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Lorenz96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モデルのインデックス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の変数</a:t>
            </a:r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X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(1)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の軌跡は以下のようになる</a:t>
            </a:r>
            <a:endParaRPr kumimoji="1" lang="ja-JP" altLang="en-US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911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296</Words>
  <Application>Microsoft Office PowerPoint</Application>
  <PresentationFormat>ワイド画面</PresentationFormat>
  <Paragraphs>26</Paragraphs>
  <Slides>6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メイリオ</vt:lpstr>
      <vt:lpstr>游ゴシック</vt:lpstr>
      <vt:lpstr>游ゴシック Light</vt:lpstr>
      <vt:lpstr>Arial</vt:lpstr>
      <vt:lpstr>Segoe UI</vt:lpstr>
      <vt:lpstr>Office テーマ</vt:lpstr>
      <vt:lpstr>地球観測社会システム 第2回経過報告</vt:lpstr>
      <vt:lpstr>Basic Task 3</vt:lpstr>
      <vt:lpstr>BasicTask3</vt:lpstr>
      <vt:lpstr>Basic Task 4</vt:lpstr>
      <vt:lpstr>BasikTask4</vt:lpstr>
      <vt:lpstr>BasicTask4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AのBに関する研究</dc:title>
  <dc:creator>cgfa6170</dc:creator>
  <cp:lastModifiedBy>cgfa6170</cp:lastModifiedBy>
  <cp:revision>56</cp:revision>
  <dcterms:created xsi:type="dcterms:W3CDTF">2025-10-08T02:37:19Z</dcterms:created>
  <dcterms:modified xsi:type="dcterms:W3CDTF">2025-10-16T06:56:37Z</dcterms:modified>
</cp:coreProperties>
</file>